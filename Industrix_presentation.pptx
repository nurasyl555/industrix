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53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ЗАЩИТА ВЫПУСКНОГО ПРОЕКТА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Industri</a:t>
            </a:r>
            <a:r>
              <a:rPr lang="en-US" sz="7200" b="1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Цифровая площадка для покупки, продажи и аренды промышленной техники — с защищённой сделкой и арбитражем споров.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4069080"/>
            <a:ext cx="1777594" cy="292608"/>
          </a:xfrm>
          <a:prstGeom prst="roundRect">
            <a:avLst>
              <a:gd name="adj" fmla="val 5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85800" y="4069080"/>
            <a:ext cx="17775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· модульный монолит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0554" y="4069080"/>
            <a:ext cx="1702613" cy="292608"/>
          </a:xfrm>
          <a:prstGeom prst="roundRect">
            <a:avLst>
              <a:gd name="adj" fmla="val 5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600554" y="4069080"/>
            <a:ext cx="170261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/ React 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40326" y="40690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440326" y="40690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 · событийная архитектура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54926" y="4069080"/>
            <a:ext cx="2452421" cy="292608"/>
          </a:xfrm>
          <a:prstGeom prst="roundRect">
            <a:avLst>
              <a:gd name="adj" fmla="val 5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954926" y="4069080"/>
            <a:ext cx="24524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OpenSearch · Redis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Автор:          Дата: 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INDUSTRIX / ПРЕЗЕНТАЦИЯ ПРОЕКТА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Рынок спецтехники до сих пор живёт в звонках и переписках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1691640"/>
            <a:ext cx="919708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Экскаваторы, краны, генераторы и другую технику покупают и сдают в аренду через личные контакты — без единой площадки, без защиты денег и без механизма решения споров.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2554148" cy="1920240"/>
          </a:xfrm>
          <a:prstGeom prst="roundRect">
            <a:avLst>
              <a:gd name="adj" fmla="val 285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685800" y="2514600"/>
            <a:ext cx="41148" cy="1920240"/>
          </a:xfrm>
          <a:prstGeom prst="rect">
            <a:avLst/>
          </a:prstGeom>
          <a:solidFill>
            <a:srgbClr val="D8735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50392" y="26243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Разрозненный рынок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" y="2935224"/>
            <a:ext cx="22615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одного места, где сравнить предложения разных продавцов по цене, региону и состоянию техники.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41116" y="2514600"/>
            <a:ext cx="2554148" cy="1920240"/>
          </a:xfrm>
          <a:prstGeom prst="roundRect">
            <a:avLst>
              <a:gd name="adj" fmla="val 285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3441116" y="2514600"/>
            <a:ext cx="41148" cy="1920240"/>
          </a:xfrm>
          <a:prstGeom prst="rect">
            <a:avLst/>
          </a:prstGeom>
          <a:solidFill>
            <a:srgbClr val="D8735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605708" y="26243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Деньги без защиты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05708" y="2935224"/>
            <a:ext cx="22615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Оплата — на доверии. Если технику не привезли или она не соответствует описанию, покупатель ничего не может сделать.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6432" y="2514600"/>
            <a:ext cx="2554148" cy="1920240"/>
          </a:xfrm>
          <a:prstGeom prst="roundRect">
            <a:avLst>
              <a:gd name="adj" fmla="val 285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6"/>
          <p:cNvSpPr/>
          <p:nvPr/>
        </p:nvSpPr>
        <p:spPr>
          <a:xfrm>
            <a:off x="6196432" y="2514600"/>
            <a:ext cx="41148" cy="1920240"/>
          </a:xfrm>
          <a:prstGeom prst="rect">
            <a:avLst/>
          </a:prstGeom>
          <a:solidFill>
            <a:srgbClr val="D8735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6361024" y="26243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арбитража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61024" y="2935224"/>
            <a:ext cx="22615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Конфликт между продавцом и покупателем решать некому — стороны просто теряют деньги или технику.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51747" y="2514600"/>
            <a:ext cx="2554148" cy="1920240"/>
          </a:xfrm>
          <a:prstGeom prst="roundRect">
            <a:avLst>
              <a:gd name="adj" fmla="val 285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Shape 30"/>
          <p:cNvSpPr/>
          <p:nvPr/>
        </p:nvSpPr>
        <p:spPr>
          <a:xfrm>
            <a:off x="8951747" y="2514600"/>
            <a:ext cx="41148" cy="1920240"/>
          </a:xfrm>
          <a:prstGeom prst="rect">
            <a:avLst/>
          </a:prstGeom>
          <a:solidFill>
            <a:srgbClr val="D8735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9116339" y="26243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Ручная аренда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16339" y="2935224"/>
            <a:ext cx="22615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Бронирование техники в аренду координируют по телефону — легко получить двойную бронь на одни даты.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Industrix — маркетплейс, где сделка гарантирована системой, а не обещанием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85800" y="2057400"/>
            <a:ext cx="527288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685800" y="2057400"/>
            <a:ext cx="41148" cy="1737360"/>
          </a:xfrm>
          <a:prstGeom prst="rect">
            <a:avLst/>
          </a:prstGeom>
          <a:solidFill>
            <a:srgbClr val="6FBE8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850392" y="2167128"/>
            <a:ext cx="498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Единый каталог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0392" y="2478024"/>
            <a:ext cx="49802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Фасетный поиск по категории, региону, цене и состоянию техники — вместо десятка чатов и объявлений на разных площадках.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3008" y="2057400"/>
            <a:ext cx="527288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6233008" y="2057400"/>
            <a:ext cx="41148" cy="1737360"/>
          </a:xfrm>
          <a:prstGeom prst="rect">
            <a:avLst/>
          </a:prstGeom>
          <a:solidFill>
            <a:srgbClr val="6FBE8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6397600" y="2167128"/>
            <a:ext cx="498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Эскроу-платежи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97600" y="2478024"/>
            <a:ext cx="49802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Деньги покупателя удерживаются платформой и переходят продавцу только после подтверждения получения техники.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069080"/>
            <a:ext cx="527288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685800" y="4069080"/>
            <a:ext cx="41148" cy="1737360"/>
          </a:xfrm>
          <a:prstGeom prst="rect">
            <a:avLst/>
          </a:prstGeom>
          <a:solidFill>
            <a:srgbClr val="6FBE8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850392" y="4178808"/>
            <a:ext cx="498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Арбитраж споров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" y="4489704"/>
            <a:ext cx="49802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Если что-то пошло не так — сделка замораживается, администратор изучает обе стороны и решает: вернуть деньги или отпустить оплату.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3008" y="4069080"/>
            <a:ext cx="527288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6233008" y="4069080"/>
            <a:ext cx="41148" cy="1737360"/>
          </a:xfrm>
          <a:prstGeom prst="rect">
            <a:avLst/>
          </a:prstGeom>
          <a:solidFill>
            <a:srgbClr val="6FBE8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6397600" y="4178808"/>
            <a:ext cx="498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Календарь аренды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97600" y="4489704"/>
            <a:ext cx="49802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Бронирования проверяются на пересечение дат на уровне базы данных — двойная бронь физически невозможна.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ВОЗМОЖНОСТИ ПЛАТФОРМЫ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ВОЗМОЖНОСТИ ПЛАТФОРМЫ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реализовано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85800" y="1600200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850392" y="17099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Каталог и поиск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2020824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Фасетные фильтры (категория / регион / цена / состояние), полнотекстовый поиск, кэш частых запросов.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41116" y="1600200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605708" y="17099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Сделки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05708" y="2020824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Заявка → переговоры → подтверждение → исполнение → завершение, с историей переписки.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6432" y="1600200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6361024" y="17099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Эскроу-платежи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61024" y="2020824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Удержание, освобождение и возврат средств — автоматически по статусу сделки.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51747" y="1600200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9116339" y="170992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Арбитраж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16339" y="2020824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Заморозка сделки на время спора, решение администратора: возврат или перевод продавцу.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950208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850392" y="4059936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Аренда и бронирование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0392" y="4370832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Календарь занятости, расчёт стоимости, запрет на пересекающиеся брони.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41116" y="3950208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3605708" y="4059936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Отзывы и репутация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05708" y="4370832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Оценки после сделки, рейтинг продавца и покупателя, бейджи по числу и качеству отзывов.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6432" y="3950208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6361024" y="4059936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Модерация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61024" y="4370832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Объявления проходят проверку администратора; компании верифицируются по БИН.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51747" y="3950208"/>
            <a:ext cx="2554148" cy="2148840"/>
          </a:xfrm>
          <a:prstGeom prst="roundRect">
            <a:avLst>
              <a:gd name="adj" fmla="val 2553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9116339" y="4059936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языка интерфейса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116339" y="4370832"/>
            <a:ext cx="22615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Русский, қазақша, English — с проверкой полноты перевода на этапе сборки.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АРХИТЕКТУРА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Модульный монолит: один деплой, чёткие границы внутри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доменных модулей живут в одном Go-процессе, но не импортируют друг друга напрямую — только через интерфейсы contracts.* и события Kafka.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56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КЛИЕНТ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48840" y="1874520"/>
            <a:ext cx="9357055" cy="384048"/>
          </a:xfrm>
          <a:prstGeom prst="roundRect">
            <a:avLst>
              <a:gd name="adj" fmla="val 11905"/>
            </a:avLst>
          </a:prstGeom>
          <a:solidFill>
            <a:srgbClr val="16212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2148840" y="1874520"/>
            <a:ext cx="9357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(SSR) · REST + WebSocket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459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48840" y="2377440"/>
            <a:ext cx="9357055" cy="384048"/>
          </a:xfrm>
          <a:prstGeom prst="roundRect">
            <a:avLst>
              <a:gd name="adj" fmla="val 11905"/>
            </a:avLst>
          </a:prstGeom>
          <a:solidFill>
            <a:srgbClr val="16212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2148840" y="2377440"/>
            <a:ext cx="9357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Fiber HTTP API · JWT-аутентификация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2781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ДОМЕННЫХ МОДУЛЕЙ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48840" y="2907792"/>
            <a:ext cx="2229536" cy="960120"/>
          </a:xfrm>
          <a:prstGeom prst="roundRect">
            <a:avLst>
              <a:gd name="adj" fmla="val 4762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2240280" y="2980944"/>
            <a:ext cx="204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ПОЛЬЗОВАТЕЛИ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40280" y="3200400"/>
            <a:ext cx="2046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 ·  integrity  ·  admin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4680" y="2907792"/>
            <a:ext cx="2229536" cy="960120"/>
          </a:xfrm>
          <a:prstGeom prst="roundRect">
            <a:avLst>
              <a:gd name="adj" fmla="val 4762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4616120" y="2980944"/>
            <a:ext cx="204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КАТАЛОГ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16120" y="3200400"/>
            <a:ext cx="2046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 ·  listing  ·  search  ·  media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0520" y="2907792"/>
            <a:ext cx="2229536" cy="960120"/>
          </a:xfrm>
          <a:prstGeom prst="roundRect">
            <a:avLst>
              <a:gd name="adj" fmla="val 4762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991960" y="2980944"/>
            <a:ext cx="204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СДЕЛКИ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91960" y="3200400"/>
            <a:ext cx="2046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 ·  payment  ·  dispute  ·  booking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76359" y="2907792"/>
            <a:ext cx="2229536" cy="960120"/>
          </a:xfrm>
          <a:prstGeom prst="roundRect">
            <a:avLst>
              <a:gd name="adj" fmla="val 4762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9367799" y="2980944"/>
            <a:ext cx="204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73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ВОВЛЕЧЁННОСТЬ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367799" y="3200400"/>
            <a:ext cx="2046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 ·  engagement  ·  notification  ·  analytics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" y="4242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ШИНА СОБЫТИЙ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148840" y="4160520"/>
            <a:ext cx="9357055" cy="384048"/>
          </a:xfrm>
          <a:prstGeom prst="roundRect">
            <a:avLst>
              <a:gd name="adj" fmla="val 11905"/>
            </a:avLst>
          </a:prstGeom>
          <a:solidFill>
            <a:srgbClr val="16212C"/>
          </a:solidFill>
          <a:ln w="1270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2148840" y="4160520"/>
            <a:ext cx="9357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B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— equipment.*, listing.*, deal.*, payment.*, dispute.*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" y="4873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ХРАНИЛИЩА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148840" y="4709160"/>
            <a:ext cx="2229536" cy="548640"/>
          </a:xfrm>
          <a:prstGeom prst="roundRect">
            <a:avLst>
              <a:gd name="adj" fmla="val 8333"/>
            </a:avLst>
          </a:prstGeom>
          <a:ln w="9525">
            <a:solidFill>
              <a:srgbClr val="2A3B4C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2148840" y="4764024"/>
            <a:ext cx="2229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48840" y="4983480"/>
            <a:ext cx="2229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 истины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24680" y="4709160"/>
            <a:ext cx="2229536" cy="548640"/>
          </a:xfrm>
          <a:prstGeom prst="roundRect">
            <a:avLst>
              <a:gd name="adj" fmla="val 8333"/>
            </a:avLst>
          </a:prstGeom>
          <a:ln w="9525">
            <a:solidFill>
              <a:srgbClr val="2A3B4C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4524680" y="4764024"/>
            <a:ext cx="2229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OpenSearch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4680" y="4983480"/>
            <a:ext cx="2229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фасетный поиск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900520" y="4709160"/>
            <a:ext cx="2229536" cy="548640"/>
          </a:xfrm>
          <a:prstGeom prst="roundRect">
            <a:avLst>
              <a:gd name="adj" fmla="val 8333"/>
            </a:avLst>
          </a:prstGeom>
          <a:ln w="9525">
            <a:solidFill>
              <a:srgbClr val="2A3B4C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6900520" y="4764024"/>
            <a:ext cx="2229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00520" y="4983480"/>
            <a:ext cx="2229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кэш запросов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276359" y="4709160"/>
            <a:ext cx="2229536" cy="548640"/>
          </a:xfrm>
          <a:prstGeom prst="roundRect">
            <a:avLst>
              <a:gd name="adj" fmla="val 8333"/>
            </a:avLst>
          </a:prstGeom>
          <a:ln w="9525">
            <a:solidFill>
              <a:srgbClr val="2A3B4C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9276359" y="4764024"/>
            <a:ext cx="2229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 + imgproxy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276359" y="4983480"/>
            <a:ext cx="2229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изображения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СОБЫТИЙНАЯ АРХИТЕКТУРА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СОБЫТИЙНАЯ АРХИТЕКТУРА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Модули не вызывают друг друга — они публикуют факты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Вместо прямых вызовов между модулями — публикация события в Kafka. Каждый заинтересованный модуль подписывается сам.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103120"/>
            <a:ext cx="10820095" cy="0"/>
          </a:xfrm>
          <a:prstGeom prst="line">
            <a:avLst/>
          </a:prstGeom>
          <a:noFill/>
          <a:ln w="635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685800" y="2249424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758952" y="224942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catalog: новое объявление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2249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0" y="2249424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1270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3547872" y="2249424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equipment.created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0680" y="2249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15000" y="2249424"/>
            <a:ext cx="1892808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788152" y="2249424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— индексирует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85800" y="2871216"/>
            <a:ext cx="10820095" cy="0"/>
          </a:xfrm>
          <a:prstGeom prst="line">
            <a:avLst/>
          </a:prstGeom>
          <a:noFill/>
          <a:ln w="635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685800" y="3017520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758952" y="301752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deal: сделка завершена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74720" y="30175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1270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3547872" y="301752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deal.status.changed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715000" y="3017520"/>
            <a:ext cx="2521915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5788152" y="3017520"/>
            <a:ext cx="23756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— освобождает эскроу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346643" y="3017520"/>
            <a:ext cx="2600554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6"/>
          <p:cNvSpPr/>
          <p:nvPr/>
        </p:nvSpPr>
        <p:spPr>
          <a:xfrm>
            <a:off x="8419795" y="3017520"/>
            <a:ext cx="24542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— фиксирует событие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11056925" y="301752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11130077" y="30175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— уведомляет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685800" y="3639312"/>
            <a:ext cx="10820095" cy="0"/>
          </a:xfrm>
          <a:prstGeom prst="line">
            <a:avLst/>
          </a:prstGeom>
          <a:noFill/>
          <a:ln w="635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40"/>
          <p:cNvSpPr/>
          <p:nvPr/>
        </p:nvSpPr>
        <p:spPr>
          <a:xfrm>
            <a:off x="685800" y="3785616"/>
            <a:ext cx="2468880" cy="365760"/>
          </a:xfrm>
          <a:prstGeom prst="roundRect">
            <a:avLst>
              <a:gd name="adj" fmla="val 125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758952" y="3785616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dispute: спор решён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0" y="37856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474720" y="3785616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1270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3547872" y="378561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dispute.resolved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0680" y="37856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715000" y="3785616"/>
            <a:ext cx="2207362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5788152" y="3785616"/>
            <a:ext cx="2061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— снимает заморозку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8032090" y="3785616"/>
            <a:ext cx="2993746" cy="365760"/>
          </a:xfrm>
          <a:prstGeom prst="roundRect">
            <a:avLst>
              <a:gd name="adj" fmla="val 12500"/>
            </a:avLst>
          </a:prstGeom>
          <a:solidFill>
            <a:srgbClr val="1C2935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9"/>
          <p:cNvSpPr/>
          <p:nvPr/>
        </p:nvSpPr>
        <p:spPr>
          <a:xfrm>
            <a:off x="8105242" y="3785616"/>
            <a:ext cx="28474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7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— итог обеим сторонам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ЖИЗНЕННЫЙ ЦИКЛ СДЕЛКИ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ЖИЗНЕННЫЙ ЦИКЛ СДЕЛКИ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Конечный автомат: сделка не может перескочить статус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5800" y="2011680"/>
            <a:ext cx="1097280" cy="457200"/>
          </a:xfrm>
          <a:prstGeom prst="roundRect">
            <a:avLst>
              <a:gd name="adj" fmla="val 50000"/>
            </a:avLst>
          </a:prstGeom>
          <a:ln w="1905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858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inquiry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37944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67128" y="2011680"/>
            <a:ext cx="1463040" cy="457200"/>
          </a:xfrm>
          <a:prstGeom prst="roundRect">
            <a:avLst>
              <a:gd name="adj" fmla="val 50000"/>
            </a:avLst>
          </a:prstGeom>
          <a:ln w="1905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2167128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negotiation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85032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14216" y="2011680"/>
            <a:ext cx="1280160" cy="457200"/>
          </a:xfrm>
          <a:prstGeom prst="roundRect">
            <a:avLst>
              <a:gd name="adj" fmla="val 50000"/>
            </a:avLst>
          </a:prstGeom>
          <a:ln w="1905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014216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4924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78424" y="2011680"/>
            <a:ext cx="1463040" cy="457200"/>
          </a:xfrm>
          <a:prstGeom prst="roundRect">
            <a:avLst>
              <a:gd name="adj" fmla="val 50000"/>
            </a:avLst>
          </a:prstGeom>
          <a:ln w="19050">
            <a:solidFill>
              <a:srgbClr val="4FB0C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5678424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96328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25512" y="2011680"/>
            <a:ext cx="1280160" cy="457200"/>
          </a:xfrm>
          <a:prstGeom prst="roundRect">
            <a:avLst>
              <a:gd name="adj" fmla="val 50000"/>
            </a:avLst>
          </a:prstGeom>
          <a:ln w="19050">
            <a:solidFill>
              <a:srgbClr val="6FBE8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7525512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2743200"/>
            <a:ext cx="4937760" cy="365760"/>
          </a:xfrm>
          <a:prstGeom prst="roundRect">
            <a:avLst>
              <a:gd name="adj" fmla="val 50000"/>
            </a:avLst>
          </a:prstGeom>
          <a:ln w="9525">
            <a:solidFill>
              <a:srgbClr val="2A3B4C"/>
            </a:solidFill>
            <a:prstDash val="dash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8580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⤷ cancelled — доступен из любого активного статуса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3429000"/>
            <a:ext cx="8595360" cy="1280160"/>
          </a:xfrm>
          <a:prstGeom prst="roundRect">
            <a:avLst>
              <a:gd name="adj" fmla="val 4286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33"/>
          <p:cNvSpPr/>
          <p:nvPr/>
        </p:nvSpPr>
        <p:spPr>
          <a:xfrm>
            <a:off x="685800" y="3429000"/>
            <a:ext cx="41148" cy="1280160"/>
          </a:xfrm>
          <a:prstGeom prst="rect">
            <a:avLst/>
          </a:prstGeom>
          <a:solidFill>
            <a:srgbClr val="D8735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914400" y="342900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⏸  Заморозка при споре.  </a:t>
            </a:r>
            <a:r>
              <a:rPr lang="en-US" sz="11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 по сделке открыт спор, любой переход статуса — включая «завершить» и «отменить» — отклоняется сервисом. Это не даёт участникам расчистить эскроу до решения арбитра.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ЭСКРОУ И АРБИТРАЖ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ЭСКРОУ И АРБИТРАЖ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Деньги двигаются только вслед за статусом сделки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5800" y="1645920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685800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Покупатель финансирует сделку  →  эскроу: held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103120"/>
            <a:ext cx="0" cy="320040"/>
          </a:xfrm>
          <a:prstGeom prst="line">
            <a:avLst/>
          </a:prstGeom>
          <a:noFill/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685800" y="242316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2397709" y="2423160"/>
            <a:ext cx="0" cy="18288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685800" y="260604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850392" y="2734056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" y="3063240"/>
            <a:ext cx="309463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Эскроу автоматически released продавцу — событие обрабатывает модуль payment.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95848" y="2423160"/>
            <a:ext cx="0" cy="18288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4383938" y="260604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4548530" y="2734056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873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48530" y="3063240"/>
            <a:ext cx="309463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Эскроу автоматически refunded покупателю.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93986" y="2423160"/>
            <a:ext cx="0" cy="18288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9"/>
          <p:cNvSpPr/>
          <p:nvPr/>
        </p:nvSpPr>
        <p:spPr>
          <a:xfrm>
            <a:off x="8082077" y="2606040"/>
            <a:ext cx="3423818" cy="1737360"/>
          </a:xfrm>
          <a:prstGeom prst="roundRect">
            <a:avLst>
              <a:gd name="adj" fmla="val 315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8246669" y="2734056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46669" y="3063240"/>
            <a:ext cx="309463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Сделка замораживается. Администратор изучает переписку и решает: refund или release.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ТЕХНОЛОГИЧЕСКИЙ СТЕК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ТЕХНОЛОГИЧЕСКИЙ СТЕК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под капотом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1600200"/>
            <a:ext cx="518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1911096"/>
            <a:ext cx="855878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777240" y="1911096"/>
            <a:ext cx="6729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51406" y="1911096"/>
            <a:ext cx="1155802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1742846" y="1911096"/>
            <a:ext cx="9729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Fiber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v2.52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16936" y="1911096"/>
            <a:ext cx="930859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3008376" y="1911096"/>
            <a:ext cx="7479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pgx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57523" y="1911096"/>
            <a:ext cx="1830629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4048963" y="1911096"/>
            <a:ext cx="164774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Sarama (Kafka)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v1.43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" y="2313432"/>
            <a:ext cx="1380744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777240" y="2313432"/>
            <a:ext cx="1197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go-redis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v9.18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76272" y="2313432"/>
            <a:ext cx="1455725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2267712" y="2313432"/>
            <a:ext cx="127284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golang-jwt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1725" y="2313432"/>
            <a:ext cx="1830629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3833165" y="2313432"/>
            <a:ext cx="164774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golang-migrate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v4.19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" y="2715768"/>
            <a:ext cx="1305763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777240" y="2715768"/>
            <a:ext cx="11228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zerolog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3319272"/>
            <a:ext cx="518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ДАННЫЕ И ПОИСК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363016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777240" y="36301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801368" y="363016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1892808" y="36301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OpenSearch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16936" y="3630168"/>
            <a:ext cx="630936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3008376" y="3630168"/>
            <a:ext cx="448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24448" y="1600200"/>
            <a:ext cx="518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4448" y="1911096"/>
            <a:ext cx="1230782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6415888" y="1911096"/>
            <a:ext cx="10479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64958" y="1911096"/>
            <a:ext cx="1080821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7756398" y="1911096"/>
            <a:ext cx="897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55507" y="1911096"/>
            <a:ext cx="1230782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8946947" y="1911096"/>
            <a:ext cx="10479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24448" y="2313432"/>
            <a:ext cx="1455725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8"/>
          <p:cNvSpPr/>
          <p:nvPr/>
        </p:nvSpPr>
        <p:spPr>
          <a:xfrm>
            <a:off x="6415888" y="2313432"/>
            <a:ext cx="127284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89900" y="2313432"/>
            <a:ext cx="1080821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50"/>
          <p:cNvSpPr/>
          <p:nvPr/>
        </p:nvSpPr>
        <p:spPr>
          <a:xfrm>
            <a:off x="7981340" y="2313432"/>
            <a:ext cx="89794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 </a:t>
            </a: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80449" y="2313432"/>
            <a:ext cx="855878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Text 52"/>
          <p:cNvSpPr/>
          <p:nvPr/>
        </p:nvSpPr>
        <p:spPr>
          <a:xfrm>
            <a:off x="9171889" y="2313432"/>
            <a:ext cx="6729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Radix UI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24448" y="2916936"/>
            <a:ext cx="5181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ИНФРАСТРУКТУРА И CI/CD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24448" y="3227832"/>
            <a:ext cx="1305763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5"/>
          <p:cNvSpPr/>
          <p:nvPr/>
        </p:nvSpPr>
        <p:spPr>
          <a:xfrm>
            <a:off x="6415888" y="3227832"/>
            <a:ext cx="11228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739939" y="3227832"/>
            <a:ext cx="630936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7831379" y="3227832"/>
            <a:ext cx="448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80603" y="3227832"/>
            <a:ext cx="855878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59"/>
          <p:cNvSpPr/>
          <p:nvPr/>
        </p:nvSpPr>
        <p:spPr>
          <a:xfrm>
            <a:off x="8572043" y="3227832"/>
            <a:ext cx="6729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imgproxy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446209" y="3227832"/>
            <a:ext cx="1305763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Text 61"/>
          <p:cNvSpPr/>
          <p:nvPr/>
        </p:nvSpPr>
        <p:spPr>
          <a:xfrm>
            <a:off x="9537649" y="3227832"/>
            <a:ext cx="11228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324448" y="3630168"/>
            <a:ext cx="1230782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Text 63"/>
          <p:cNvSpPr/>
          <p:nvPr/>
        </p:nvSpPr>
        <p:spPr>
          <a:xfrm>
            <a:off x="6415888" y="3630168"/>
            <a:ext cx="104790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golangci-lint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664958" y="3630168"/>
            <a:ext cx="630936" cy="329184"/>
          </a:xfrm>
          <a:prstGeom prst="roundRect">
            <a:avLst>
              <a:gd name="adj" fmla="val 1388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Text 65"/>
          <p:cNvSpPr/>
          <p:nvPr/>
        </p:nvSpPr>
        <p:spPr>
          <a:xfrm>
            <a:off x="7756398" y="3630168"/>
            <a:ext cx="448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gosec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ПОИСК И КАТАЛОГ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ПОИСК И КАТАЛОГ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Фасетный поиск на OpenSearch, кэш — на Redis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Фильтры считаются агрегациями OpenSearch, поэтому счётчики по каждой категории и региону всегда точные. Повторяющиеся запросы кэшируются в Redis — кроме пустых результатов.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148840"/>
            <a:ext cx="2377440" cy="3749040"/>
          </a:xfrm>
          <a:prstGeom prst="roundRect">
            <a:avLst>
              <a:gd name="adj" fmla="val 2308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868680" y="23134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КАТЕГОРИЯ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" y="2587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Экскаваторы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23160" y="25877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28437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Краны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28437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3099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Компрессоры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23160" y="309981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33558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РЕГИОН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36301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Алматы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23160" y="36301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68680" y="38862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Астана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23160" y="38862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8680" y="41422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СОСТОЯНИЕ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8680" y="44165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Новое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23160" y="44165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" y="46725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Б/у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23160" y="46725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37560" y="2148840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Shape 36"/>
          <p:cNvSpPr/>
          <p:nvPr/>
        </p:nvSpPr>
        <p:spPr>
          <a:xfrm>
            <a:off x="3337560" y="2148840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3337560" y="2148840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320D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65576" y="289864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Экскаватор CAT 320D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65576" y="3191256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18 500 000 ₸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15202" y="2148840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Shape 41"/>
          <p:cNvSpPr/>
          <p:nvPr/>
        </p:nvSpPr>
        <p:spPr>
          <a:xfrm>
            <a:off x="6115202" y="2148840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6115202" y="2148840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LIEBHERR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43218" y="289864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Кран Liebherr 132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43218" y="3191256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42 000 000 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892845" y="2148840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46"/>
          <p:cNvSpPr/>
          <p:nvPr/>
        </p:nvSpPr>
        <p:spPr>
          <a:xfrm>
            <a:off x="8892845" y="2148840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8892845" y="2148840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020861" y="289864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Компрессор Elang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020861" y="3191256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3 200 000 ₸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37560" y="4050792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Shape 51"/>
          <p:cNvSpPr/>
          <p:nvPr/>
        </p:nvSpPr>
        <p:spPr>
          <a:xfrm>
            <a:off x="3337560" y="4050792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Text 52"/>
          <p:cNvSpPr/>
          <p:nvPr/>
        </p:nvSpPr>
        <p:spPr>
          <a:xfrm>
            <a:off x="3337560" y="4050792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950 GC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65576" y="48006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Погрузчик CAT 950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65576" y="509320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15 800 000 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15202" y="4050792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Shape 56"/>
          <p:cNvSpPr/>
          <p:nvPr/>
        </p:nvSpPr>
        <p:spPr>
          <a:xfrm>
            <a:off x="6115202" y="4050792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6115202" y="4050792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КАМАЗ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43218" y="48006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Бетоносмеситель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43218" y="509320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24 500 000 ₸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892845" y="4050792"/>
            <a:ext cx="2613050" cy="1737360"/>
          </a:xfrm>
          <a:prstGeom prst="roundRect">
            <a:avLst>
              <a:gd name="adj" fmla="val 2632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Shape 61"/>
          <p:cNvSpPr/>
          <p:nvPr/>
        </p:nvSpPr>
        <p:spPr>
          <a:xfrm>
            <a:off x="8892845" y="4050792"/>
            <a:ext cx="2613050" cy="685800"/>
          </a:xfrm>
          <a:prstGeom prst="rect">
            <a:avLst/>
          </a:prstGeom>
          <a:solidFill>
            <a:srgbClr val="1C293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4" name="Text 62"/>
          <p:cNvSpPr/>
          <p:nvPr/>
        </p:nvSpPr>
        <p:spPr>
          <a:xfrm>
            <a:off x="8892845" y="4050792"/>
            <a:ext cx="26130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25Т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20861" y="48006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Автокран — аренда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020861" y="5093208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9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350 000 ₸ / день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ИЗОБРАЖЕНИЯ ТЕХНИКИ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ИЗОБРАЖЕНИЯ ТЕХНИКИ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MinIO хранит, imgproxy — обрабатывает и защищает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загружаются в S3-совместимое хранилище MinIO. Отдаёт их не сам бакет, а imgproxy — по подписанным URL и только в одном из заранее заданных пресетов размера.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2468880"/>
            <a:ext cx="3454298" cy="2011680"/>
          </a:xfrm>
          <a:prstGeom prst="roundRect">
            <a:avLst>
              <a:gd name="adj" fmla="val 272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685800" y="2468880"/>
            <a:ext cx="41148" cy="2011680"/>
          </a:xfrm>
          <a:prstGeom prst="rect">
            <a:avLst/>
          </a:prstGeom>
          <a:solidFill>
            <a:srgbClr val="4FB0C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850392" y="2578608"/>
            <a:ext cx="31616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thumb / card / full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" y="2889504"/>
            <a:ext cx="316169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Закрытый набор пресетов — нельзя запросить произвольный размер и превратить сервис в открытый прокси.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68698" y="2468880"/>
            <a:ext cx="3454298" cy="2011680"/>
          </a:xfrm>
          <a:prstGeom prst="roundRect">
            <a:avLst>
              <a:gd name="adj" fmla="val 272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4368698" y="2468880"/>
            <a:ext cx="41148" cy="2011680"/>
          </a:xfrm>
          <a:prstGeom prst="rect">
            <a:avLst/>
          </a:prstGeom>
          <a:solidFill>
            <a:srgbClr val="4FB0C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533290" y="2578608"/>
            <a:ext cx="31616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Подписанные URL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33290" y="2889504"/>
            <a:ext cx="316169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Каждая ссылка на вариант изображения подписана и невалидна без правильной подписи.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51597" y="2468880"/>
            <a:ext cx="3454298" cy="2011680"/>
          </a:xfrm>
          <a:prstGeom prst="roundRect">
            <a:avLst>
              <a:gd name="adj" fmla="val 2727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6"/>
          <p:cNvSpPr/>
          <p:nvPr/>
        </p:nvSpPr>
        <p:spPr>
          <a:xfrm>
            <a:off x="8051597" y="2468880"/>
            <a:ext cx="41148" cy="2011680"/>
          </a:xfrm>
          <a:prstGeom prst="rect">
            <a:avLst/>
          </a:prstGeom>
          <a:solidFill>
            <a:srgbClr val="4FB0C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8216189" y="2578608"/>
            <a:ext cx="31616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/ public host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16189" y="2889504"/>
            <a:ext cx="316169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Внутренний адрес MinIO переписывается на публичный — сервис хранения не выставлен наружу напрямую.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ЛОКАЛИЗАЦИЯ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ЛОКАЛИЗАЦИЯ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 языка интерфейса, проверка полноты — на этапе сборки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Русский словарь — эталонный набор ключей. TypeScript требует, чтобы казахский и английский словари содержали ровно те же ключи: пропущенный перевод — это ошибка компиляции, а не пустая строка в проде.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home.startSelling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63240" y="2286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3191256" y="22860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Начать продавать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95544" y="22860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5623560" y="228600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Сатуды бастау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53528" y="22860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7781544" y="228600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selling now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about.heroTitle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63240" y="292608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3191256" y="292608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 компании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46904" y="29260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074920" y="292608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Компания туралы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87768" y="29260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7415784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 </a:t>
            </a:r>
            <a:r>
              <a:rPr lang="en-US" sz="105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КАЧЕСТВО И CI/CD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КАЧЕСТВО И CI/CD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Каждый пуш проходит один и тот же конвейер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5800" y="1691640"/>
            <a:ext cx="2554148" cy="1554480"/>
          </a:xfrm>
          <a:prstGeom prst="roundRect">
            <a:avLst>
              <a:gd name="adj" fmla="val 352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850392" y="180136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golangci-lint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2112264"/>
            <a:ext cx="22615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Статический анализ backend-кода на каждый PR.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41116" y="1691640"/>
            <a:ext cx="2554148" cy="1554480"/>
          </a:xfrm>
          <a:prstGeom prst="roundRect">
            <a:avLst>
              <a:gd name="adj" fmla="val 352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605708" y="180136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gosec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05708" y="2112264"/>
            <a:ext cx="22615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уязвимостей в Go-коде до попадания в main.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6432" y="1691640"/>
            <a:ext cx="2554148" cy="1554480"/>
          </a:xfrm>
          <a:prstGeom prst="roundRect">
            <a:avLst>
              <a:gd name="adj" fmla="val 352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6361024" y="180136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test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61024" y="2112264"/>
            <a:ext cx="22615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Юнит- и интеграционные тесты доменных модулей.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51747" y="1691640"/>
            <a:ext cx="2554148" cy="1554480"/>
          </a:xfrm>
          <a:prstGeom prst="roundRect">
            <a:avLst>
              <a:gd name="adj" fmla="val 3529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9116339" y="1801368"/>
            <a:ext cx="22615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build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16339" y="2112264"/>
            <a:ext cx="22615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Полная сборка Next.js и проверка типов TypeScript.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703320"/>
            <a:ext cx="91970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Границы между модулями держатся на интерфейсах contracts.*, а не на соглашениях «просто не импортировать» — нарушение видно уже на этапе сборки.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ДЕМОНСТРАЦИЯ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ДЕМОНСТРАЦИЯ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Готовый демо-стенд: 16 объявлений, 8 сделок во всех статусах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85800" y="2148840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850392" y="2286000"/>
            <a:ext cx="31251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АДМИНИСТРАТОР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" y="2532888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admin@industrix.kz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" y="2898648"/>
            <a:ext cx="312511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Модерация объявлений, верификация компаний, арбитраж споров.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68698" y="2148840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4533290" y="2286000"/>
            <a:ext cx="31251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ПРОДАВЕЦ / ПОКУПАТЕЛЬ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33290" y="2532888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erlan.demo@industrix.kz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33290" y="2898648"/>
            <a:ext cx="312511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ТОО «СтройТехСервис», Алматы — 8 объявлений: экскаваторы, краны, генераторы, погрузчики.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51597" y="2148840"/>
            <a:ext cx="3454298" cy="2286000"/>
          </a:xfrm>
          <a:prstGeom prst="roundRect">
            <a:avLst>
              <a:gd name="adj" fmla="val 2400"/>
            </a:avLst>
          </a:prstGeom>
          <a:solidFill>
            <a:srgbClr val="16212C"/>
          </a:solidFill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8216189" y="2286000"/>
            <a:ext cx="312511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ПРОДАВЕЦ / ПОКУПАТЕЛЬ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16189" y="2532888"/>
            <a:ext cx="3125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DE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aigerim.demo@industrix.kz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6189" y="2898648"/>
            <a:ext cx="312511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ИП «Нурланова Техснаб», Астана — 8 объявлений: компрессоры, сварка, бетоносмесители, грузовики.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Среди 8 сделок — все статусы FSM, два спора (один решён возвратом, второй — в пользу продавца), 4 бронирования аренды и отзывы с рейтингом.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201168" y="182880"/>
            <a:ext cx="0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201168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11771071" y="182880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11990527" y="182880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01168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201168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11771071" y="6455664"/>
            <a:ext cx="219456" cy="0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11990527" y="6455664"/>
            <a:ext cx="0" cy="219456"/>
          </a:xfrm>
          <a:prstGeom prst="line">
            <a:avLst/>
          </a:prstGeom>
          <a:noFill/>
          <a:ln w="12700">
            <a:solidFill>
              <a:srgbClr val="8FA0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ИТОГИ И ПЛАНЫ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566928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51560" y="457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ИТОГИ И ПЛАНЫ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822960"/>
            <a:ext cx="8439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Что сделано и что дальше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1600200"/>
            <a:ext cx="513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РЕАЛИЗОВАНО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01168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доменных модулей на событийной архитектуре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24505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450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цикл сделки: заявка → эскроу → арбитраж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8895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889504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Фасетный поиск и аренда с календарём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3284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328416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языка интерфейса с проверкой на этапе сборки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767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BE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767328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CI: линт, тесты, сборка — на каждый пуш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0168" y="1600200"/>
            <a:ext cx="513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ДАЛЬШЕ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70168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44488" y="201168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Вложения и статусы прочтения в чате сделки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70168" y="24505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44488" y="245059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Нагрузочное и security-тестирование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70168" y="28895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44488" y="2889504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6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Боевой хостинг и запуск CD-пайплайна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651760"/>
            <a:ext cx="292608" cy="0"/>
          </a:xfrm>
          <a:prstGeom prst="line">
            <a:avLst/>
          </a:prstGeom>
          <a:noFill/>
          <a:ln w="19050">
            <a:solidFill>
              <a:srgbClr val="E293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1051560" y="254203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932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INDUSTRIX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9260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E6D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Спасибо за внимание. Вопросы?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Демо-стенд, исходный код и данные из этой презентации доступны по запросу.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6400800"/>
            <a:ext cx="10820095" cy="0"/>
          </a:xfrm>
          <a:prstGeom prst="line">
            <a:avLst/>
          </a:prstGeom>
          <a:noFill/>
          <a:ln w="9525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685800" y="6437376"/>
            <a:ext cx="757406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94215" y="64373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1387</Words>
  <Application>Microsoft Office PowerPoint</Application>
  <PresentationFormat>Широкоэкранный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Bahnschrift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Nurassyl Kalmakhanbet</cp:lastModifiedBy>
  <cp:revision>2</cp:revision>
  <dcterms:created xsi:type="dcterms:W3CDTF">2026-07-20T06:38:57Z</dcterms:created>
  <dcterms:modified xsi:type="dcterms:W3CDTF">2026-07-20T06:48:57Z</dcterms:modified>
</cp:coreProperties>
</file>